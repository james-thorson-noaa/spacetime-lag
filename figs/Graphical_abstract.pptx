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73152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1" d="100"/>
          <a:sy n="91" d="100"/>
        </p:scale>
        <p:origin x="209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22363"/>
            <a:ext cx="621792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02038"/>
            <a:ext cx="54864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365760" indent="0" algn="ctr">
              <a:buNone/>
              <a:defRPr sz="1600"/>
            </a:lvl2pPr>
            <a:lvl3pPr marL="731520" indent="0" algn="ctr">
              <a:buNone/>
              <a:defRPr sz="1440"/>
            </a:lvl3pPr>
            <a:lvl4pPr marL="1097280" indent="0" algn="ctr">
              <a:buNone/>
              <a:defRPr sz="1280"/>
            </a:lvl4pPr>
            <a:lvl5pPr marL="1463040" indent="0" algn="ctr">
              <a:buNone/>
              <a:defRPr sz="1280"/>
            </a:lvl5pPr>
            <a:lvl6pPr marL="1828800" indent="0" algn="ctr">
              <a:buNone/>
              <a:defRPr sz="1280"/>
            </a:lvl6pPr>
            <a:lvl7pPr marL="2194560" indent="0" algn="ctr">
              <a:buNone/>
              <a:defRPr sz="1280"/>
            </a:lvl7pPr>
            <a:lvl8pPr marL="2560320" indent="0" algn="ctr">
              <a:buNone/>
              <a:defRPr sz="1280"/>
            </a:lvl8pPr>
            <a:lvl9pPr marL="292608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326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21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110" y="1709740"/>
            <a:ext cx="630936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9110" y="4589465"/>
            <a:ext cx="630936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1pPr>
            <a:lvl2pPr marL="36576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2pPr>
            <a:lvl3pPr marL="73152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3pPr>
            <a:lvl4pPr marL="109728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4pPr>
            <a:lvl5pPr marL="146304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5pPr>
            <a:lvl6pPr marL="182880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6pPr>
            <a:lvl7pPr marL="219456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7pPr>
            <a:lvl8pPr marL="256032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8pPr>
            <a:lvl9pPr marL="292608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04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2920" y="1825625"/>
            <a:ext cx="3108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3320" y="1825625"/>
            <a:ext cx="3108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29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365127"/>
            <a:ext cx="630936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874" y="1681163"/>
            <a:ext cx="3094672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874" y="2505075"/>
            <a:ext cx="309467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03320" y="1681163"/>
            <a:ext cx="3109913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03320" y="2505075"/>
            <a:ext cx="310991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15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2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692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457200"/>
            <a:ext cx="2359342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9913" y="987427"/>
            <a:ext cx="370332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2057400"/>
            <a:ext cx="2359342" cy="3811588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29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457200"/>
            <a:ext cx="2359342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09913" y="987427"/>
            <a:ext cx="3703320" cy="4873625"/>
          </a:xfrm>
        </p:spPr>
        <p:txBody>
          <a:bodyPr anchor="t"/>
          <a:lstStyle>
            <a:lvl1pPr marL="0" indent="0">
              <a:buNone/>
              <a:defRPr sz="2560"/>
            </a:lvl1pPr>
            <a:lvl2pPr marL="365760" indent="0">
              <a:buNone/>
              <a:defRPr sz="2240"/>
            </a:lvl2pPr>
            <a:lvl3pPr marL="731520" indent="0">
              <a:buNone/>
              <a:defRPr sz="1920"/>
            </a:lvl3pPr>
            <a:lvl4pPr marL="1097280" indent="0">
              <a:buNone/>
              <a:defRPr sz="1600"/>
            </a:lvl4pPr>
            <a:lvl5pPr marL="1463040" indent="0">
              <a:buNone/>
              <a:defRPr sz="1600"/>
            </a:lvl5pPr>
            <a:lvl6pPr marL="1828800" indent="0">
              <a:buNone/>
              <a:defRPr sz="1600"/>
            </a:lvl6pPr>
            <a:lvl7pPr marL="2194560" indent="0">
              <a:buNone/>
              <a:defRPr sz="1600"/>
            </a:lvl7pPr>
            <a:lvl8pPr marL="2560320" indent="0">
              <a:buNone/>
              <a:defRPr sz="1600"/>
            </a:lvl8pPr>
            <a:lvl9pPr marL="292608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2057400"/>
            <a:ext cx="2359342" cy="3811588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31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86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34940" y="365125"/>
            <a:ext cx="157734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365125"/>
            <a:ext cx="464058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6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2920" y="365127"/>
            <a:ext cx="63093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0" y="1825625"/>
            <a:ext cx="630936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2920" y="6356352"/>
            <a:ext cx="16459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FC24D-6BAA-4D2D-9619-156F358AF84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3160" y="6356352"/>
            <a:ext cx="24688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66360" y="6356352"/>
            <a:ext cx="16459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77EDC3-AC4A-42BF-A997-E64C63C76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78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3152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73152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5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3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03F67989-78D2-D1AC-2574-D5E1A9D3E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79" r="2695" b="80993"/>
          <a:stretch>
            <a:fillRect/>
          </a:stretch>
        </p:blipFill>
        <p:spPr>
          <a:xfrm>
            <a:off x="63380" y="1184808"/>
            <a:ext cx="4484452" cy="130350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374AF71-434E-3AE1-CC4A-A70D1A4CFE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" t="34893" r="3334" b="48936"/>
          <a:stretch>
            <a:fillRect/>
          </a:stretch>
        </p:blipFill>
        <p:spPr>
          <a:xfrm>
            <a:off x="63380" y="2723927"/>
            <a:ext cx="4416358" cy="110895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008E435-24EF-7859-4606-EC76B6EEBD02}"/>
              </a:ext>
            </a:extLst>
          </p:cNvPr>
          <p:cNvSpPr txBox="1"/>
          <p:nvPr/>
        </p:nvSpPr>
        <p:spPr>
          <a:xfrm>
            <a:off x="97427" y="122492"/>
            <a:ext cx="7120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Spatio</a:t>
            </a:r>
            <a:r>
              <a:rPr lang="en-US" b="1" dirty="0"/>
              <a:t>-temporal distributed lags (STDL) </a:t>
            </a:r>
            <a:r>
              <a:rPr lang="en-US" dirty="0"/>
              <a:t>estimate covariate impacts on population density in nearby habitats over time-lagged responses.</a:t>
            </a:r>
          </a:p>
          <a:p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9B6B64-0E5C-912A-45A7-5323B185873C}"/>
              </a:ext>
            </a:extLst>
          </p:cNvPr>
          <p:cNvSpPr txBox="1"/>
          <p:nvPr/>
        </p:nvSpPr>
        <p:spPr>
          <a:xfrm>
            <a:off x="97427" y="906836"/>
            <a:ext cx="4450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STDL is not significant for Pacific cod …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DBA76E-0C60-5D8E-07E7-99CA3046FAD7}"/>
              </a:ext>
            </a:extLst>
          </p:cNvPr>
          <p:cNvSpPr txBox="1"/>
          <p:nvPr/>
        </p:nvSpPr>
        <p:spPr>
          <a:xfrm>
            <a:off x="97427" y="2396953"/>
            <a:ext cx="4450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… and is significant for capelin.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26BAE3EE-BBB3-F390-780E-04896DBD85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51" t="-223" r="74725" b="194"/>
          <a:stretch>
            <a:fillRect/>
          </a:stretch>
        </p:blipFill>
        <p:spPr>
          <a:xfrm>
            <a:off x="5295764" y="906836"/>
            <a:ext cx="1057558" cy="4116031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8866AD2-D7C5-76BF-84EA-33B556F9F8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35" r="44877" b="5354"/>
          <a:stretch>
            <a:fillRect/>
          </a:stretch>
        </p:blipFill>
        <p:spPr>
          <a:xfrm>
            <a:off x="6353322" y="906836"/>
            <a:ext cx="898498" cy="38944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FEF31DD-179B-2E25-527F-63E4AB9DA32C}"/>
                  </a:ext>
                </a:extLst>
              </p:cNvPr>
              <p:cNvSpPr txBox="1"/>
              <p:nvPr/>
            </p:nvSpPr>
            <p:spPr>
              <a:xfrm>
                <a:off x="164717" y="3808306"/>
                <a:ext cx="428177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 and this results in different “effective” temperature anomalies (in 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en-US" sz="1600" dirty="0"/>
                  <a:t>) for 2013-2016.</a:t>
                </a: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FEF31DD-179B-2E25-527F-63E4AB9DA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7" y="3808306"/>
                <a:ext cx="4281777" cy="584775"/>
              </a:xfrm>
              <a:prstGeom prst="rect">
                <a:avLst/>
              </a:prstGeom>
              <a:blipFill>
                <a:blip r:embed="rId4"/>
                <a:stretch>
                  <a:fillRect l="-712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" name="Picture 50">
            <a:extLst>
              <a:ext uri="{FF2B5EF4-FFF2-40B4-BE49-F238E27FC236}">
                <a16:creationId xmlns:a16="http://schemas.microsoft.com/office/drawing/2014/main" id="{053D55E1-137F-B1F9-BE57-D0C73C7444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" t="2159" r="19008" b="80993"/>
          <a:stretch>
            <a:fillRect/>
          </a:stretch>
        </p:blipFill>
        <p:spPr>
          <a:xfrm>
            <a:off x="0" y="4510011"/>
            <a:ext cx="4581074" cy="115543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8071C095-38DB-1D78-3BB0-770C9DD1DB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5" t="35014" r="19008" b="48406"/>
          <a:stretch>
            <a:fillRect/>
          </a:stretch>
        </p:blipFill>
        <p:spPr>
          <a:xfrm>
            <a:off x="164717" y="5657354"/>
            <a:ext cx="4416358" cy="1137036"/>
          </a:xfrm>
          <a:prstGeom prst="rect">
            <a:avLst/>
          </a:prstGeom>
        </p:spPr>
      </p:pic>
      <p:pic>
        <p:nvPicPr>
          <p:cNvPr id="55" name="Picture 54" descr="logo.png">
            <a:extLst>
              <a:ext uri="{FF2B5EF4-FFF2-40B4-BE49-F238E27FC236}">
                <a16:creationId xmlns:a16="http://schemas.microsoft.com/office/drawing/2014/main" id="{0B5C8FB5-838F-17E2-2B49-7CDB00BA3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84" y="4937540"/>
            <a:ext cx="1506516" cy="17393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389A756-5C95-24F7-8E4C-74907D463C9B}"/>
              </a:ext>
            </a:extLst>
          </p:cNvPr>
          <p:cNvSpPr txBox="1"/>
          <p:nvPr/>
        </p:nvSpPr>
        <p:spPr>
          <a:xfrm rot="16200000">
            <a:off x="4488564" y="1738030"/>
            <a:ext cx="1037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AIC weight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2B57B6A-4AC5-6ED6-16DD-42E9AE8F42F2}"/>
                  </a:ext>
                </a:extLst>
              </p:cNvPr>
              <p:cNvSpPr txBox="1"/>
              <p:nvPr/>
            </p:nvSpPr>
            <p:spPr>
              <a:xfrm rot="16200000">
                <a:off x="4437329" y="2605792"/>
                <a:ext cx="1037463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Time correlation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yea</m:t>
                    </m:r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2B57B6A-4AC5-6ED6-16DD-42E9AE8F4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437329" y="2605792"/>
                <a:ext cx="1037463" cy="738664"/>
              </a:xfrm>
              <a:prstGeom prst="rect">
                <a:avLst/>
              </a:prstGeom>
              <a:blipFill>
                <a:blip r:embed="rId7"/>
                <a:stretch>
                  <a:fillRect l="-820" t="-4118" r="-7377" b="-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BF7FA431-237A-8BB4-4843-3C36B3404C89}"/>
              </a:ext>
            </a:extLst>
          </p:cNvPr>
          <p:cNvSpPr txBox="1"/>
          <p:nvPr/>
        </p:nvSpPr>
        <p:spPr>
          <a:xfrm rot="16200000">
            <a:off x="4419903" y="3800294"/>
            <a:ext cx="10374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Spatial diffusion (km)</a:t>
            </a:r>
          </a:p>
        </p:txBody>
      </p:sp>
    </p:spTree>
    <p:extLst>
      <p:ext uri="{BB962C8B-B14F-4D97-AF65-F5344CB8AC3E}">
        <p14:creationId xmlns:p14="http://schemas.microsoft.com/office/powerpoint/2010/main" val="3883939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65</Words>
  <Application>Microsoft Office PowerPoint</Application>
  <PresentationFormat>Custom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>NOAA Fisheries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James.Thorson</dc:creator>
  <cp:lastModifiedBy>James.Thorson</cp:lastModifiedBy>
  <cp:revision>11</cp:revision>
  <dcterms:created xsi:type="dcterms:W3CDTF">2026-07-08T17:51:52Z</dcterms:created>
  <dcterms:modified xsi:type="dcterms:W3CDTF">2026-07-08T18:53:42Z</dcterms:modified>
</cp:coreProperties>
</file>